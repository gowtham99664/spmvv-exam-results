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80" r:id="rId4"/>
    <p:sldId id="279" r:id="rId5"/>
    <p:sldId id="274" r:id="rId6"/>
    <p:sldId id="275" r:id="rId7"/>
    <p:sldId id="272" r:id="rId8"/>
    <p:sldId id="276" r:id="rId9"/>
    <p:sldId id="277" r:id="rId10"/>
    <p:sldId id="278" r:id="rId11"/>
    <p:sldId id="267" r:id="rId12"/>
    <p:sldId id="268" r:id="rId13"/>
    <p:sldId id="281" r:id="rId14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0" autoAdjust="0"/>
    <p:restoredTop sz="94599" autoAdjust="0"/>
  </p:normalViewPr>
  <p:slideViewPr>
    <p:cSldViewPr>
      <p:cViewPr varScale="1">
        <p:scale>
          <a:sx n="63" d="100"/>
          <a:sy n="63" d="100"/>
        </p:scale>
        <p:origin x="90" y="10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3/15/2026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3/15/2026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9C626-E7A9-786A-19F7-16933463BBC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2525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2209800"/>
            <a:ext cx="9144000" cy="2667000"/>
          </a:xfrm>
        </p:spPr>
        <p:txBody>
          <a:bodyPr/>
          <a:lstStyle/>
          <a:p>
            <a:pPr algn="ctr"/>
            <a:r>
              <a:rPr lang="en-US" sz="4800" dirty="0">
                <a:latin typeface="Calisto MT" panose="02040603050505030304" pitchFamily="18" charset="0"/>
              </a:rPr>
              <a:t>SPMVV-Exam-Results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876800"/>
            <a:ext cx="9143999" cy="1066800"/>
          </a:xfrm>
        </p:spPr>
        <p:txBody>
          <a:bodyPr/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P Navya Sree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1D49BA-F1B7-17A7-98C6-910C482123D5}"/>
              </a:ext>
            </a:extLst>
          </p:cNvPr>
          <p:cNvSpPr txBox="1"/>
          <p:nvPr/>
        </p:nvSpPr>
        <p:spPr>
          <a:xfrm>
            <a:off x="379412" y="430127"/>
            <a:ext cx="115062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శ్రీ</a:t>
            </a:r>
            <a:r>
              <a:rPr lang="en-US" dirty="0"/>
              <a:t> </a:t>
            </a:r>
            <a:r>
              <a:rPr lang="en-US" dirty="0" err="1"/>
              <a:t>పద్మావతి</a:t>
            </a:r>
            <a:r>
              <a:rPr lang="en-US" dirty="0"/>
              <a:t> </a:t>
            </a:r>
            <a:r>
              <a:rPr lang="en-US" dirty="0" err="1"/>
              <a:t>మహిళా</a:t>
            </a:r>
            <a:r>
              <a:rPr lang="en-US" dirty="0"/>
              <a:t> </a:t>
            </a:r>
            <a:r>
              <a:rPr lang="en-US" dirty="0" err="1"/>
              <a:t>విశ్వవిద్యాలయం</a:t>
            </a:r>
            <a:endParaRPr lang="en-US" dirty="0"/>
          </a:p>
          <a:p>
            <a:pPr algn="ctr"/>
            <a:r>
              <a:rPr lang="en-US" sz="2800" dirty="0">
                <a:latin typeface="Rockwell" panose="02060603020205020403" pitchFamily="18" charset="0"/>
              </a:rPr>
              <a:t>SRI PADMAVATI MAHILA VISVAVIDYALAYAM - SOET</a:t>
            </a:r>
          </a:p>
          <a:p>
            <a:pPr algn="ctr"/>
            <a:r>
              <a:rPr lang="en-US" dirty="0"/>
              <a:t>(Women's University)</a:t>
            </a:r>
          </a:p>
          <a:p>
            <a:pPr algn="ctr"/>
            <a:r>
              <a:rPr lang="en-US" dirty="0"/>
              <a:t>Tirupati, Andhra Pradesh-517502, India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52AC71-0111-B264-4A67-15E6062FC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2" y="314944"/>
            <a:ext cx="1491344" cy="143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rmAutofit/>
          </a:bodyPr>
          <a:lstStyle/>
          <a:p>
            <a:r>
              <a:rPr lang="en-US" dirty="0"/>
              <a:t>Objective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/>
              <a:t>	The application focus to overcome drawback in SPMVV SOET exam section portal by providing the required features like</a:t>
            </a:r>
          </a:p>
          <a:p>
            <a:pPr lvl="1"/>
            <a:r>
              <a:rPr lang="en-US" sz="2200" dirty="0"/>
              <a:t>Publishing exam results</a:t>
            </a:r>
          </a:p>
          <a:p>
            <a:pPr lvl="1"/>
            <a:r>
              <a:rPr lang="en-US" sz="2200" dirty="0"/>
              <a:t>Announcements through Circulars</a:t>
            </a:r>
          </a:p>
          <a:p>
            <a:pPr lvl="1"/>
            <a:r>
              <a:rPr lang="en-US" sz="2200" dirty="0"/>
              <a:t>User Management System </a:t>
            </a:r>
          </a:p>
          <a:p>
            <a:pPr lvl="1"/>
            <a:r>
              <a:rPr lang="en-US" sz="2200" dirty="0"/>
              <a:t>Manage Circulars</a:t>
            </a:r>
          </a:p>
          <a:p>
            <a:pPr lvl="1"/>
            <a:r>
              <a:rPr lang="en-US" sz="2200" dirty="0"/>
              <a:t>Search Student</a:t>
            </a:r>
          </a:p>
          <a:p>
            <a:pPr lvl="1"/>
            <a:r>
              <a:rPr lang="en-US" sz="2200" dirty="0"/>
              <a:t>Detained Students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AA8153-15B9-F11D-3BEE-262261720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971" y="1752601"/>
            <a:ext cx="1981200" cy="12617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6B0439-7DE1-3D1A-B266-E75E57B66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971" y="1769275"/>
            <a:ext cx="1981200" cy="12945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031282-CBD2-A9BF-D9EB-3A64A2780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7626" y="3471572"/>
            <a:ext cx="1981200" cy="12799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505AD2-9611-C496-416D-998329A48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3971" y="3580557"/>
            <a:ext cx="2030057" cy="10207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3CB964-006E-E9AA-49DB-517BA65834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8327" y="5144590"/>
            <a:ext cx="1981201" cy="9878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5DE2E37-700C-72D4-C518-046696874A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9640" y="5118069"/>
            <a:ext cx="2058572" cy="104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200B2-8FE8-D51C-4765-3D9B0BED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413A7-6DE9-E05E-E618-908A989E3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Structure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2CAEAD-D088-6CB6-3AA8-F09F69D78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811" y="1600200"/>
            <a:ext cx="6096001" cy="513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88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E7317-417F-F5AF-3970-7828D786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Login/Registration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A08A3D-04F3-000B-1828-127839738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12" y="1671491"/>
            <a:ext cx="11125200" cy="493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2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ABF34-6066-57A9-DAC5-1A98CB37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5950B62-FCAE-0D6B-D2A9-7AFCB4CE6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Results Statistics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D72CA-6381-8245-0A14-346A13397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197" y="1676400"/>
            <a:ext cx="4729615" cy="2362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02A145-DED6-0AEA-9AA7-D280C19EC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12" y="1705429"/>
            <a:ext cx="5050024" cy="23626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9373DF-C2B7-B1A8-01FF-EBCCCA873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12" y="4343400"/>
            <a:ext cx="5050024" cy="20012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A071C9-E28E-E56D-DBBE-683AA55E1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197" y="4343400"/>
            <a:ext cx="479857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0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53FE8-89A1-1B92-C4CA-A2C6E0EF9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B04B9B7-9D68-0BE0-4EDE-EDE287C78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46C21-5F0F-978E-347B-8A50F9244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2" y="1676400"/>
            <a:ext cx="9399589" cy="495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3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58340-4F97-74D5-76A4-0730B9C42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A860A05-D22D-10F3-C7ED-6EECCDB0E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1364E9-6D9F-F9A4-E512-41D24BA67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812" y="1676400"/>
            <a:ext cx="6629400" cy="2446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C06018-8635-C1EE-12D1-1A1E3DE68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170" y="4191000"/>
            <a:ext cx="7285714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46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18C29-5265-2302-E5D9-121004674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3127A74-E39F-CC12-B084-FCDE41C6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Management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079A27-CA1D-EF68-7D22-F4BC03F15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11" y="1676400"/>
            <a:ext cx="7543800" cy="1969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E42728-1425-19B8-4BC1-843B2E2AA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337" y="3840905"/>
            <a:ext cx="5516149" cy="274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98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DA617-FDF3-1385-E3DE-510DF467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A052CAE-B306-B6AC-DCBF-EC96938B1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Student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7ECB65-B228-AC36-2C28-0A3C01710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12" y="1600200"/>
            <a:ext cx="4080850" cy="2819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F4B7D4-D5CB-9307-469D-5205E00F6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012" y="1600200"/>
            <a:ext cx="6140274" cy="2819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732EF0-5DA3-28FC-D615-D02B5E930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012" y="4527035"/>
            <a:ext cx="10331274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2270E-2325-FBE4-3E13-BCCF42A5A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C66AD83-88B5-B370-6B94-7E40E73F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Detained Student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05438-D208-9B0A-13AE-96F68144D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012" y="1590550"/>
            <a:ext cx="8372700" cy="499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Stack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383D05-5CAE-4BB9-7EA2-0EC63C8E8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517332"/>
              </p:ext>
            </p:extLst>
          </p:nvPr>
        </p:nvGraphicFramePr>
        <p:xfrm>
          <a:off x="2031470" y="1752600"/>
          <a:ext cx="8125884" cy="22250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843742">
                  <a:extLst>
                    <a:ext uri="{9D8B030D-6E8A-4147-A177-3AD203B41FA5}">
                      <a16:colId xmlns:a16="http://schemas.microsoft.com/office/drawing/2014/main" val="1937457403"/>
                    </a:ext>
                  </a:extLst>
                </a:gridCol>
                <a:gridCol w="3250671">
                  <a:extLst>
                    <a:ext uri="{9D8B030D-6E8A-4147-A177-3AD203B41FA5}">
                      <a16:colId xmlns:a16="http://schemas.microsoft.com/office/drawing/2014/main" val="2845730498"/>
                    </a:ext>
                  </a:extLst>
                </a:gridCol>
                <a:gridCol w="2031471">
                  <a:extLst>
                    <a:ext uri="{9D8B030D-6E8A-4147-A177-3AD203B41FA5}">
                      <a16:colId xmlns:a16="http://schemas.microsoft.com/office/drawing/2014/main" val="2254290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854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198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Web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Django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0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Django REST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3.15.2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257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UI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555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Build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5817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8A8E906-3E39-6EFE-4BC5-CA3B352D2627}"/>
              </a:ext>
            </a:extLst>
          </p:cNvPr>
          <p:cNvSpPr txBox="1"/>
          <p:nvPr/>
        </p:nvSpPr>
        <p:spPr>
          <a:xfrm>
            <a:off x="1293812" y="4419600"/>
            <a:ext cx="10439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/>
              <a:t>Frontend — React SPA served by Nginx on port 2026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Backend — Django REST API served by </a:t>
            </a:r>
            <a:r>
              <a:rPr lang="en-US" sz="2000" dirty="0" err="1"/>
              <a:t>Gunicorn</a:t>
            </a:r>
            <a:r>
              <a:rPr lang="en-US" sz="2000" dirty="0"/>
              <a:t> on port 8000 (internal)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Database — MariaDB on port 3306 (internal, not exposed to internet)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Deployment — All three layers run as isolated Docker containers on a single Linux VM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Communication — Frontend calls Backend via REST/JSON; Backend talks to DB via ORM</a:t>
            </a:r>
          </a:p>
        </p:txBody>
      </p:sp>
    </p:spTree>
    <p:extLst>
      <p:ext uri="{BB962C8B-B14F-4D97-AF65-F5344CB8AC3E}">
        <p14:creationId xmlns:p14="http://schemas.microsoft.com/office/powerpoint/2010/main" val="396580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Highlights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Three-tier Docker architecture — Frontend, Backend, Database in isolated containers.</a:t>
            </a:r>
          </a:p>
          <a:p>
            <a:pPr algn="just"/>
            <a:r>
              <a:rPr lang="en-US" dirty="0"/>
              <a:t>REST API design — stateless, JSON-based, standard HTTP status codes.</a:t>
            </a:r>
          </a:p>
          <a:p>
            <a:pPr algn="just"/>
            <a:r>
              <a:rPr lang="en-US" dirty="0"/>
              <a:t>Role-based access control with 5 granular admin permission flags- Automatic SGPA/CGPA calculation using grade-point mapping (O=10, A=9 … F=0).</a:t>
            </a:r>
          </a:p>
          <a:p>
            <a:pPr algn="just"/>
            <a:r>
              <a:rPr lang="en-US" dirty="0"/>
              <a:t>Multi-attempt merging — supplementary results override regular results per subject- Audit trail on every action with IP address, user identity, and timestamp.</a:t>
            </a:r>
          </a:p>
        </p:txBody>
      </p:sp>
    </p:spTree>
    <p:extLst>
      <p:ext uri="{BB962C8B-B14F-4D97-AF65-F5344CB8AC3E}">
        <p14:creationId xmlns:p14="http://schemas.microsoft.com/office/powerpoint/2010/main" val="22373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93A7A-E694-7B1F-2B76-1257CA3D3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15D03-537F-625F-B003-250B70B4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6141CE-9F27-54E3-F921-A3BB27195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Grade Card / Transcript PDF Download</a:t>
            </a:r>
          </a:p>
          <a:p>
            <a:pPr algn="just"/>
            <a:r>
              <a:rPr lang="en-US" dirty="0"/>
              <a:t>Online Re-evaluation Request</a:t>
            </a:r>
          </a:p>
          <a:p>
            <a:pPr algn="just"/>
            <a:r>
              <a:rPr lang="en-US" dirty="0"/>
              <a:t>Email Notifications for Result Updates</a:t>
            </a:r>
          </a:p>
          <a:p>
            <a:pPr algn="just"/>
            <a:r>
              <a:rPr lang="en-US" dirty="0"/>
              <a:t>Two-Factor Authentication (2FA)</a:t>
            </a:r>
          </a:p>
          <a:p>
            <a:pPr algn="just"/>
            <a:r>
              <a:rPr lang="en-US" dirty="0"/>
              <a:t>Result Comparison Charts (Semester-wise)</a:t>
            </a:r>
          </a:p>
          <a:p>
            <a:pPr algn="just"/>
            <a:r>
              <a:rPr lang="en-US" dirty="0"/>
              <a:t>Timetable Management</a:t>
            </a:r>
          </a:p>
          <a:p>
            <a:pPr algn="just"/>
            <a:r>
              <a:rPr lang="en-US" dirty="0"/>
              <a:t>Bulk Student Import via Excel</a:t>
            </a:r>
          </a:p>
          <a:p>
            <a:pPr algn="just"/>
            <a:r>
              <a:rPr lang="en-US" dirty="0"/>
              <a:t>Automated Database Backup Scheduling</a:t>
            </a:r>
          </a:p>
          <a:p>
            <a:pPr algn="just"/>
            <a:r>
              <a:rPr lang="en-US" dirty="0"/>
              <a:t>Mobile App (Android / iOS)</a:t>
            </a:r>
          </a:p>
        </p:txBody>
      </p:sp>
    </p:spTree>
    <p:extLst>
      <p:ext uri="{BB962C8B-B14F-4D97-AF65-F5344CB8AC3E}">
        <p14:creationId xmlns:p14="http://schemas.microsoft.com/office/powerpoint/2010/main" val="32752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31</TotalTime>
  <Words>305</Words>
  <Application>Microsoft Office PowerPoint</Application>
  <PresentationFormat>Custom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Calisto MT</vt:lpstr>
      <vt:lpstr>Consolas</vt:lpstr>
      <vt:lpstr>Corbel</vt:lpstr>
      <vt:lpstr>Rockwell</vt:lpstr>
      <vt:lpstr>Chalkboard 16x9</vt:lpstr>
      <vt:lpstr>SPMVV-Exam-Results Portal</vt:lpstr>
      <vt:lpstr>Objective</vt:lpstr>
      <vt:lpstr>File Structure</vt:lpstr>
      <vt:lpstr>Login/Registration Page</vt:lpstr>
      <vt:lpstr>Exam Results Statistics</vt:lpstr>
      <vt:lpstr>User Management</vt:lpstr>
      <vt:lpstr>Circular Management</vt:lpstr>
      <vt:lpstr>Circular Management</vt:lpstr>
      <vt:lpstr>Search Student</vt:lpstr>
      <vt:lpstr>Detained Student</vt:lpstr>
      <vt:lpstr>Technical Stack</vt:lpstr>
      <vt:lpstr>Technical Highlights</vt:lpstr>
      <vt:lpstr>Future Scope</vt:lpstr>
    </vt:vector>
  </TitlesOfParts>
  <Company>Cisco Systems,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 Chendra -X (gochendr - HCL TECHNOLOGIES LIMITED at Cisco)</dc:creator>
  <cp:lastModifiedBy>Gowtham Chendra -X (gochendr - HCL TECHNOLOGIES LIMITED at Cisco)</cp:lastModifiedBy>
  <cp:revision>5</cp:revision>
  <dcterms:created xsi:type="dcterms:W3CDTF">2026-03-15T11:42:07Z</dcterms:created>
  <dcterms:modified xsi:type="dcterms:W3CDTF">2026-03-15T13:28:13Z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Chalkboard 16x9:8</vt:lpwstr>
  </property>
  <property fmtid="{D5CDD505-2E9C-101B-9397-08002B2CF9AE}" pid="3" name="ClassificationContentMarkingFooterText">
    <vt:lpwstr>Cisco Confidential</vt:lpwstr>
  </property>
</Properties>
</file>